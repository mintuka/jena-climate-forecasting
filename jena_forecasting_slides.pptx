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Forecasting Ambient Temperature with RNNs</a:t>
            </a:r>
          </a:p>
          <a:p>
            <a:r>
              <a:t>Linear vs Sequence Models</a:t>
            </a:r>
          </a:p>
          <a:p>
            <a:r>
              <a:t>Mintesnot Kassa, Fordham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Need accurate short-horizon forecasts</a:t>
            </a:r>
          </a:p>
          <a:p>
            <a:r>
              <a:t>- Applications: HVAC, energy, scheduling</a:t>
            </a:r>
          </a:p>
          <a:p>
            <a:r>
              <a:t>- Temperature shows strong cycles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Jena Climate Dataset (2009–2016)</a:t>
            </a:r>
          </a:p>
          <a:p>
            <a:r>
              <a:t>- 10-minute resolution</a:t>
            </a:r>
          </a:p>
          <a:p>
            <a:r>
              <a:t>- Multivariate weather variables</a:t>
            </a:r>
          </a:p>
        </p:txBody>
      </p:sp>
      <p:pic>
        <p:nvPicPr>
          <p:cNvPr id="4" name="Picture 3" descr="fig_temp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43200"/>
            <a:ext cx="53340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30 Days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diurnal structure and weather variability.</a:t>
            </a:r>
          </a:p>
        </p:txBody>
      </p:sp>
      <p:pic>
        <p:nvPicPr>
          <p:cNvPr id="4" name="Picture 3" descr="fig_temp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43200"/>
            <a:ext cx="8534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Correlations among key meteorological features.</a:t>
            </a:r>
          </a:p>
        </p:txBody>
      </p:sp>
      <p:pic>
        <p:nvPicPr>
          <p:cNvPr id="4" name="Picture 3" descr="fig_cor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43200"/>
            <a:ext cx="40005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Temperature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Shows average diurnal cycle across dataset.</a:t>
            </a:r>
          </a:p>
        </p:txBody>
      </p:sp>
      <p:pic>
        <p:nvPicPr>
          <p:cNvPr id="4" name="Picture 3" descr="fig_daily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43200"/>
            <a:ext cx="6400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Windowing &amp; Problem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History windows of 1,2,4,8 hours</a:t>
            </a:r>
          </a:p>
          <a:p>
            <a:r>
              <a:t>- Forecast horizons: 1h, 2h, 6h</a:t>
            </a:r>
          </a:p>
          <a:p>
            <a:r>
              <a:t>- Standardization applied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Compared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Persistence, Linear, Ridge</a:t>
            </a:r>
          </a:p>
          <a:p>
            <a:r>
              <a:t>- LSTM &amp; GRU</a:t>
            </a:r>
          </a:p>
          <a:p>
            <a:r>
              <a:t>- Adam optimizer, early stopping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RMSE Comparison by Horizon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RNNs outperform at longer horizons, baselines strong at 1h.</a:t>
            </a:r>
          </a:p>
        </p:txBody>
      </p:sp>
      <p:pic>
        <p:nvPicPr>
          <p:cNvPr id="4" name="Picture 3" descr="fig_rms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43200"/>
            <a:ext cx="5602068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LSTM prediction vs true temperatures on test slice.</a:t>
            </a:r>
          </a:p>
        </p:txBody>
      </p:sp>
      <p:pic>
        <p:nvPicPr>
          <p:cNvPr id="4" name="Picture 3" descr="fig_forecast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43200"/>
            <a:ext cx="8534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by Hour of 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Higher error at dawn/dusk; smoother at midday.</a:t>
            </a:r>
          </a:p>
        </p:txBody>
      </p:sp>
      <p:pic>
        <p:nvPicPr>
          <p:cNvPr id="4" name="Picture 3" descr="fig_error_by_h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43200"/>
            <a:ext cx="6400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GRU Training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Validation loss stabilizes after ~10 epochs.</a:t>
            </a:r>
          </a:p>
        </p:txBody>
      </p:sp>
      <p:pic>
        <p:nvPicPr>
          <p:cNvPr id="4" name="Picture 3" descr="fig_loss_curves_g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43200"/>
            <a:ext cx="53340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LSTM Training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Shows similar convergence properties with slight variance.</a:t>
            </a:r>
          </a:p>
        </p:txBody>
      </p:sp>
      <p:pic>
        <p:nvPicPr>
          <p:cNvPr id="4" name="Picture 3" descr="fig_loss_curves_lst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43200"/>
            <a:ext cx="53340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- 1h: persistence nearly optimal</a:t>
            </a:r>
          </a:p>
          <a:p>
            <a:r>
              <a:t>- 6h: RNNs clearly better</a:t>
            </a:r>
          </a:p>
          <a:p>
            <a:r>
              <a:t>- Ridge reduces overfitting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Extend to TCN/Transformers</a:t>
            </a:r>
          </a:p>
          <a:p>
            <a:r>
              <a:t>- Add seasonal variables</a:t>
            </a:r>
          </a:p>
          <a:p>
            <a:r>
              <a:t>- Probabilistic forecasting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